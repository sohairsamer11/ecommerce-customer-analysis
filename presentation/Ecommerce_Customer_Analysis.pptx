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F4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2F4B"/>
                </a:solidFill>
                <a:latin typeface="+mn-lt"/>
              </a:rPr>
              <a:t>Customers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by Age Group</c:v>
                </c:pt>
              </c:strCache>
            </c:strRef>
          </c:tx>
          <c:spPr>
            <a:solidFill>
              <a:srgbClr val="F284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F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&lt;18</c:v>
                </c:pt>
                <c:pt idx="1">
                  <c:v>18-24</c:v>
                </c:pt>
                <c:pt idx="2">
                  <c:v>25-34</c:v>
                </c:pt>
                <c:pt idx="3">
                  <c:v>35-44</c:v>
                </c:pt>
                <c:pt idx="4">
                  <c:v>45-54</c:v>
                </c:pt>
                <c:pt idx="5">
                  <c:v>55-64</c:v>
                </c:pt>
                <c:pt idx="6">
                  <c:v>65+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1170</c:v>
                </c:pt>
                <c:pt idx="1">
                  <c:v>1160</c:v>
                </c:pt>
                <c:pt idx="2">
                  <c:v>2269</c:v>
                </c:pt>
                <c:pt idx="3">
                  <c:v>2341</c:v>
                </c:pt>
                <c:pt idx="4">
                  <c:v>1597</c:v>
                </c:pt>
                <c:pt idx="5">
                  <c:v>647</c:v>
                </c:pt>
                <c:pt idx="6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D8-4751-B9E3-7626A1CE1F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F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67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F4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2F4B"/>
                </a:solidFill>
                <a:latin typeface="+mn-lt"/>
              </a:rPr>
              <a:t>Avg Order Value by Purchase Frequency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by Purchase Frequency</c:v>
                </c:pt>
              </c:strCache>
            </c:strRef>
          </c:tx>
          <c:spPr>
            <a:solidFill>
              <a:srgbClr val="F2842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F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0-2</c:v>
                </c:pt>
                <c:pt idx="1">
                  <c:v>3-5</c:v>
                </c:pt>
                <c:pt idx="2">
                  <c:v>6-10</c:v>
                </c:pt>
                <c:pt idx="3">
                  <c:v>11-15</c:v>
                </c:pt>
                <c:pt idx="4">
                  <c:v>16-20</c:v>
                </c:pt>
                <c:pt idx="5">
                  <c:v>20+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237.31</c:v>
                </c:pt>
                <c:pt idx="1">
                  <c:v>143.88999999999999</c:v>
                </c:pt>
                <c:pt idx="2">
                  <c:v>198.22</c:v>
                </c:pt>
                <c:pt idx="3">
                  <c:v>209.7</c:v>
                </c:pt>
                <c:pt idx="4">
                  <c:v>80.16</c:v>
                </c:pt>
                <c:pt idx="5">
                  <c:v>105.42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1-42C8-A84C-4C15BD5F03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F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67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F4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2F4B"/>
                </a:solidFill>
                <a:latin typeface="+mn-lt"/>
              </a:rPr>
              <a:t>Customers by Satisfaction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by Satisfaction Score</c:v>
                </c:pt>
              </c:strCache>
            </c:strRef>
          </c:tx>
          <c:spPr>
            <a:solidFill>
              <a:srgbClr val="142F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F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0-1</c:v>
                </c:pt>
                <c:pt idx="1">
                  <c:v>1-2</c:v>
                </c:pt>
                <c:pt idx="2">
                  <c:v>2-3</c:v>
                </c:pt>
                <c:pt idx="3">
                  <c:v>3-4</c:v>
                </c:pt>
                <c:pt idx="4">
                  <c:v>4-5</c:v>
                </c:pt>
                <c:pt idx="5">
                  <c:v>5-6</c:v>
                </c:pt>
                <c:pt idx="6">
                  <c:v>6-7</c:v>
                </c:pt>
                <c:pt idx="7">
                  <c:v>7-8</c:v>
                </c:pt>
                <c:pt idx="8">
                  <c:v>8-9</c:v>
                </c:pt>
                <c:pt idx="9">
                  <c:v>9-10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53</c:v>
                </c:pt>
                <c:pt idx="2">
                  <c:v>159</c:v>
                </c:pt>
                <c:pt idx="3">
                  <c:v>413</c:v>
                </c:pt>
                <c:pt idx="4">
                  <c:v>868</c:v>
                </c:pt>
                <c:pt idx="5">
                  <c:v>1390</c:v>
                </c:pt>
                <c:pt idx="6">
                  <c:v>1844</c:v>
                </c:pt>
                <c:pt idx="7">
                  <c:v>1770</c:v>
                </c:pt>
                <c:pt idx="8">
                  <c:v>1437</c:v>
                </c:pt>
                <c:pt idx="9">
                  <c:v>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7C-4BB4-ABDE-2AF7EA684B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F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67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F4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2F4B"/>
                </a:solidFill>
                <a:latin typeface="+mn-lt"/>
              </a:rPr>
              <a:t>Mobile App Usage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Mobile App Usage</c:v>
                </c:pt>
              </c:strCache>
            </c:strRef>
          </c:tx>
          <c:spPr>
            <a:solidFill>
              <a:srgbClr val="F284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F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Never</c:v>
                </c:pt>
                <c:pt idx="1">
                  <c:v>Low</c:v>
                </c:pt>
                <c:pt idx="2">
                  <c:v>Medium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1914</c:v>
                </c:pt>
                <c:pt idx="1">
                  <c:v>1868</c:v>
                </c:pt>
                <c:pt idx="2">
                  <c:v>1894</c:v>
                </c:pt>
                <c:pt idx="3">
                  <c:v>1867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13-4736-83C8-42B9FC62EF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F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67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F4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42F4B"/>
                </a:solidFill>
                <a:latin typeface="+mn-lt"/>
              </a:rPr>
              <a:t>Customers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by Country</c:v>
                </c:pt>
              </c:strCache>
            </c:strRef>
          </c:tx>
          <c:spPr>
            <a:solidFill>
              <a:srgbClr val="F2842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2F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Germany</c:v>
                </c:pt>
                <c:pt idx="1">
                  <c:v>Canada</c:v>
                </c:pt>
                <c:pt idx="2">
                  <c:v>Other</c:v>
                </c:pt>
                <c:pt idx="3">
                  <c:v>UK</c:v>
                </c:pt>
                <c:pt idx="4">
                  <c:v>Australia</c:v>
                </c:pt>
                <c:pt idx="5">
                  <c:v>USA</c:v>
                </c:pt>
                <c:pt idx="6">
                  <c:v>Japan</c:v>
                </c:pt>
                <c:pt idx="7">
                  <c:v>France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1149</c:v>
                </c:pt>
                <c:pt idx="1">
                  <c:v>1169</c:v>
                </c:pt>
                <c:pt idx="2">
                  <c:v>1171</c:v>
                </c:pt>
                <c:pt idx="3">
                  <c:v>1177</c:v>
                </c:pt>
                <c:pt idx="4">
                  <c:v>1194</c:v>
                </c:pt>
                <c:pt idx="5">
                  <c:v>1200</c:v>
                </c:pt>
                <c:pt idx="6">
                  <c:v>1220</c:v>
                </c:pt>
                <c:pt idx="7">
                  <c:v>1227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E-4205-B6A1-00F2270A12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F4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67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53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E-commerce Customer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A352"/>
                </a:solidFill>
              </a:rPr>
              <a:t>Understand your customers. Drive smarter decisions.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4F0"/>
                </a:solidFill>
              </a:rPr>
              <a:t>Project discussion  |  Streamlit Dashboard &amp; Insights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Domain &amp; Business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E-commerce: Customer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15544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The Domain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An online retailer selling across 8 categories (Beauty, Sports, Electronics, Food, Clothing, Toys, Home Goods, Books) to customers in 8 country groups.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463040"/>
            <a:ext cx="64008" cy="15544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50876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The Problem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Who are our customers, how do they behave, and which groups should we focus on to increase repeat purchases and lifetime value?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64008" cy="146304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2461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The Data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10,000 customer records, 23 columns: demographics, purchase behavior, marketing engagement and customer experience.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320040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3200400"/>
            <a:ext cx="64008" cy="146304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32461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The Solution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An interactive Streamlit dashboard with 4 filters (Country, Gender, Income, Customer Type), KPIs, charts and segmentation.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Columns: What They Mean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23 columns grouped into 5 themes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105156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Customer Profile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CustomerID, RegistrationDate, Age, Gender, IncomeLevel, Country, City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463040"/>
            <a:ext cx="64008" cy="105156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508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Purchase Behavior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TotalPurchases, AverageOrderValue, CustomerLifetimeValue (CLV), FavoriteCategory, SecondFavoriteCategory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64008" cy="105156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651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Marketing &amp; Engagement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Email / SocialMedia EngagementRate, Email / SocialMedia / SearchEngine ConversionRate, MobileAppUsage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60604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606040"/>
            <a:ext cx="64008" cy="105156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651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Customer Experience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CustomerServiceInteractions, AverageSatisfactionScore (0-10)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64008" cy="105156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794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Customer Status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RepeatCustomer, PremiumMember, HasReturnedItems (Yes / No)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Problems Found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Identified in the raw data and handled before building the 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9601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Missing values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Low in most fields, up to ~26% in Gender, Income Level and Mobile App Usage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463040"/>
            <a:ext cx="64008" cy="9601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5087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Missing IDs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492 records have no CustomerID; no real duplicate IDs were found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64008" cy="9601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5603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Inconsistent labels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Gender M/F and Income H/L mixed with full names; "nan" text 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1460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514600"/>
            <a:ext cx="64008" cy="9601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5603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Invalid values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89 negative + 28 zero ages (treated as missing, median-imputed); 936 negative CLV (9.4%, kept and investigated)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64008" cy="9601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Extreme outliers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AOV up to 51,810 vs median 54.5; CLV up to 420,811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566160"/>
            <a:ext cx="3977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566160"/>
            <a:ext cx="64008" cy="9601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611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Unclear categories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Country / Gender "Other"; city does not always match country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7200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06784"/>
                </a:solidFill>
              </a:rPr>
              <a:t>Dashboard handling: labels standardized missing values excluded per metric using valid records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Dashboard Overview: KPIs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All customers, no filters applied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10,000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189.22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Average Order 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47,774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Total Purchases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6.96 / 10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Average Satisfaction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89.0%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Repeat Customer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269748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032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19.7%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Premium Member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29.9%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Return 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269748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672.92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Average CLV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F4B"/>
                </a:solidFill>
              </a:rPr>
              <a:t>Mean AOV (189) and CLV (673) are pulled up by outliers: median AOV is only 54.5 and median CLV is 248.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Customer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Who are our customers?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94960" y="1554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Core audience is 25-44 (about 46% of customers).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Gender is balanced: Female 1,846, Male 1,830, Other 1,901, Prefer not to say 1,807.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Income is balanced across Low, Medium, High, Very High (~1,800-1,960 each).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The customer base is demographically balanced, suggesting that behavioral segmentation can provide additional differentiation.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Purchase Behavior &amp; Engagement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What do customers do?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94960" y="1554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Frequent buyers (16+) have the lowest AOV (80-105): they buy more often but spend less per order.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Email and social engagement are almost equal (28.3% vs 28.7%).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Mobile app usage is evenly spread; 1,914 customers never use the app.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Satisfaction peaks at 6-8 (3,614 customers); only ~2% score below 3.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Customer Experience &amp; Mobile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Satisfaction distribution and app adoption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303520" y="137160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0352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F4B"/>
                </a:solidFill>
              </a:rPr>
              <a:t>Average satisfaction is 6.96, so there is clear room to improve the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Geographic &amp; Income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Customer base is evenly spread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7160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94960" y="1554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France leads (1,227); Germany is lowest (1,149).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The gap between top and bottom is only ~7%: no single-market dependency.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Income levels are also balanced, so no income group dominates.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The balanced geographic distribution suggests limited dependence on a single market.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Customer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6784"/>
                </a:solidFill>
              </a:rPr>
              <a:t>Repeat vs Premium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8,479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Repeat Customers (89.0%)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1,046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Non-Repeat (11.0%)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1,874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Premium Members (19.7%)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463040"/>
            <a:ext cx="1920240" cy="1005840"/>
          </a:xfrm>
          <a:prstGeom prst="rect">
            <a:avLst/>
          </a:prstGeom>
          <a:solidFill>
            <a:srgbClr val="E5F0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2F4B"/>
                </a:solidFill>
              </a:rPr>
              <a:t>7,632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6784"/>
                </a:solidFill>
              </a:rPr>
              <a:t>Non-Premium (80.3%)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43200"/>
            <a:ext cx="64008" cy="192024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7889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Repeat customers = the engine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Average 5.5 purchases vs 0.96 for non-repeat. Median CLV 264.5 vs 62.3.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743200"/>
            <a:ext cx="64008" cy="192024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278892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Premium is under-used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Only 1 in 5 customers is premium, so most of the base has not been converted to membership.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Insights from the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430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1. Loyal base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89% are repeat customers, with higher purchase activity and median CLV.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430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2. Balanced audience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Gender, income, country and app usage are evenly spread.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3. Core age 25-44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Almost half of customers sit in this range.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28600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28600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4. Frequent = smaller baskets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Customers with 16+ purchases have the lowest AOV.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520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5. High returns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29.9% of customers returned items.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47472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47472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3520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6. Premium gap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Only 19.7% are premium members.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customer base is large (10,000), loyal (89% repeat) and demographically balanced.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Repeat status shows the clearest observed difference in purchase activity and median CLV.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Mean metrics are strongly influenced by extreme values, so medians provide a more representative view of typical customers.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Satisfaction (6.96/10), returns (29.9%) and low premium adoption (19.7%) are the main gaps.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 dashboard lets stakeholders explore all of this instantly through filters.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F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1430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Evaluate Premium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Median CLV and AOV are the same for premium and non-premium; test what the program adds.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430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Lift basket size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Bundles and free-shipping thresholds for frequent buyers.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Reduce returns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Investigate return reasons; improve product info and sizing.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28600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28600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92040" y="23317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Win back non-repeat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Follow-up emails and first-repurchase incentives for the 11%.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520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Improve experience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Target customers scoring below 6 with service follow-ups.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47472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474720"/>
            <a:ext cx="64008" cy="1097280"/>
          </a:xfrm>
          <a:prstGeom prst="rect">
            <a:avLst/>
          </a:prstGeom>
          <a:solidFill>
            <a:srgbClr val="F2842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3520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F4B"/>
                </a:solidFill>
              </a:rPr>
              <a:t>Fix data quality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Required fields, dedupe IDs, validate age and CLV at entry.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1002</Words>
  <Application>Microsoft Office PowerPoint</Application>
  <PresentationFormat>On-screen Show (16:9)</PresentationFormat>
  <Paragraphs>144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2026-10-02T10:58:19Z</dcterms:created>
  <dcterms:modified xsi:type="dcterms:W3CDTF">2026-10-02T11:10:29Z</dcterms:modified>
</cp:coreProperties>
</file>